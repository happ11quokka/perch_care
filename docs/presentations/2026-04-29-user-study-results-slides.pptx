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PerchCare — User Study 결과 &amp; 2차 프로젝트 컨셉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발표일</a:t>
            </a:r>
            <a:r>
              <a:rPr/>
              <a:t>: 2026-04-29 (수) · </a:t>
            </a:r>
            <a:r>
              <a:rPr b="1"/>
              <a:t>소요</a:t>
            </a:r>
            <a:r>
              <a:rPr/>
              <a:t>: 5분 이내 · </a:t>
            </a:r>
            <a:r>
              <a:rPr b="1"/>
              <a:t>수신</a:t>
            </a:r>
            <a:r>
              <a:rPr/>
              <a:t>: anna5638@naver.com (안나경) </a:t>
            </a:r>
            <a:r>
              <a:rPr b="1"/>
              <a:t>발표자</a:t>
            </a:r>
            <a:r>
              <a:rPr/>
              <a:t>: 임동현 (컴퓨터소프트웨어학부 2021085078) </a:t>
            </a:r>
            <a:r>
              <a:rPr b="1"/>
              <a:t>모든 수치는 시뮬레이션 값</a:t>
            </a:r>
            <a:r>
              <a:rPr/>
              <a:t> — 실제 user study 완료 후 교체 예정. 디자인 톤은 기존 PerchCare 키트 (오렌지 </a:t>
            </a:r>
            <a:r>
              <a:rPr>
                <a:latin typeface="Courier"/>
              </a:rPr>
              <a:t>#FF9A42</a:t>
            </a:r>
            <a:r>
              <a:rPr/>
              <a:t>, 흰 배경, 둥근 카드) 유지.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슬라이드 구성 (총 8장 · ~37초/장)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Recap — Assignment 2 에서 계획한 user study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Quantitative 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Qualitative 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Insight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 Project — Concept 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Thank You / Next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Title</a:t>
            </a:r>
          </a:p>
          <a:p>
            <a:pPr lvl="0" indent="0" marL="0">
              <a:buNone/>
            </a:pPr>
            <a:r>
              <a:rPr b="1"/>
              <a:t>텍스트</a:t>
            </a:r>
          </a:p>
          <a:p>
            <a:pPr lvl="0" indent="0" marL="1270000">
              <a:buNone/>
            </a:pPr>
            <a:r>
              <a:rPr sz="2000"/>
              <a:t>PerchCare — User Study 결과 사진 진단 UI: 홈페이지형 vs 챗봇형 비교 그리고 2차 프로젝트 컨셉</a:t>
            </a:r>
          </a:p>
          <a:p>
            <a:pPr lvl="0" indent="0" marL="1270000">
              <a:buNone/>
            </a:pPr>
            <a:r>
              <a:rPr sz="2000"/>
              <a:t>임동현 Lim Donghyun · 2021085078 · 2026-04-29</a:t>
            </a:r>
          </a:p>
          <a:p>
            <a:pPr lvl="0" indent="0" marL="0">
              <a:buNone/>
            </a:pPr>
            <a:r>
              <a:rPr b="1"/>
              <a:t>레이아웃</a:t>
            </a:r>
            <a:r>
              <a:rPr/>
              <a:t>: 1장 표지와 동일 디자인, 카피만 교체. 오른쪽에 아이폰 목업.</a:t>
            </a:r>
          </a:p>
          <a:p>
            <a:pPr lvl="0" indent="0" marL="0">
              <a:buNone/>
            </a:pPr>
            <a:r>
              <a:rPr b="1"/>
              <a:t>스피치 (15초)</a:t>
            </a:r>
            <a:r>
              <a:rPr/>
              <a:t> “PerchCare 2차 user study 결과와, 결과로부터 도출한 second project 컨셉 5분 발표하겠습니다.”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Recap</a:t>
            </a:r>
          </a:p>
          <a:p>
            <a:pPr lvl="0" indent="0" marL="0">
              <a:buNone/>
            </a:pPr>
            <a:r>
              <a:rPr b="1"/>
              <a:t>제목</a:t>
            </a:r>
            <a:r>
              <a:rPr/>
              <a:t>: 과제 2 에서 세운 user study 가설</a:t>
            </a:r>
          </a:p>
          <a:p>
            <a:pPr lvl="0" indent="0" marL="0">
              <a:buNone/>
            </a:pPr>
            <a:r>
              <a:rPr b="1"/>
              <a:t>텍스트 (카드 2장)</a:t>
            </a:r>
          </a:p>
          <a:p>
            <a:pPr lvl="0" indent="0" marL="1270000">
              <a:buNone/>
            </a:pPr>
            <a:r>
              <a:rPr sz="2000" b="1"/>
              <a:t>가설 A</a:t>
            </a:r>
            <a:r>
              <a:rPr sz="2000"/>
              <a:t>: 홈페이지형 “사진 → 분석 결과” UI 는 </a:t>
            </a:r>
            <a:r>
              <a:rPr sz="2000" b="1"/>
              <a:t>진단 정확도</a:t>
            </a:r>
            <a:r>
              <a:rPr sz="2000"/>
              <a:t>에서 강점. </a:t>
            </a:r>
            <a:r>
              <a:rPr sz="2000" b="1"/>
              <a:t>가설 B</a:t>
            </a:r>
            <a:r>
              <a:rPr sz="2000"/>
              <a:t>: 챗봇형 UI 는 </a:t>
            </a:r>
            <a:r>
              <a:rPr sz="2000" b="1"/>
              <a:t>대화·재방문</a:t>
            </a:r>
            <a:r>
              <a:rPr sz="2000"/>
              <a:t>에서 강점.</a:t>
            </a:r>
          </a:p>
          <a:p>
            <a:pPr lvl="0" indent="0" marL="1270000">
              <a:buNone/>
            </a:pPr>
            <a:r>
              <a:rPr sz="2000"/>
              <a:t>“같은 사진 진단 기능을 두 UI 로 나눠 제공했을 때 사용자 반응이 어떻게 달라지는가?”</a:t>
            </a:r>
          </a:p>
          <a:p>
            <a:pPr lvl="0" indent="0" marL="0">
              <a:buNone/>
            </a:pPr>
            <a:r>
              <a:rPr b="1"/>
              <a:t>레이아웃</a:t>
            </a:r>
            <a:r>
              <a:rPr/>
              <a:t>: 왼쪽 카드에 Group A (Apple, 홈페이지형) 스크린샷, 오른쪽 카드에 Group B (Google, 챗봇형) 스크린샷 — PDF 6페이지 이미지 재활용.</a:t>
            </a:r>
          </a:p>
          <a:p>
            <a:pPr lvl="0" indent="0" marL="0">
              <a:buNone/>
            </a:pPr>
            <a:r>
              <a:rPr b="1"/>
              <a:t>스피치 (30초)</a:t>
            </a:r>
            <a:r>
              <a:rPr/>
              <a:t> “과제 2 에서 계획했던 대로, 기존 Apple 사용자 그룹에는 홈페이지형 Health Check 인터페이스를, 신규 Google 사용자 그룹에는 챗봇형 인터페이스를 1주간 제공해 비교했습니다. 측정 축은 </a:t>
            </a:r>
            <a:r>
              <a:rPr b="1"/>
              <a:t>사용률, 체류 시간, 상호작용의 자연스러움</a:t>
            </a:r>
            <a:r>
              <a:rPr/>
              <a:t> 세 가지입니다.”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Methodology</a:t>
            </a:r>
          </a:p>
          <a:p>
            <a:pPr lvl="0" indent="0" marL="0">
              <a:buNone/>
            </a:pPr>
            <a:r>
              <a:rPr b="1"/>
              <a:t>제목</a:t>
            </a:r>
            <a:r>
              <a:rPr/>
              <a:t>: 측정 방법</a:t>
            </a:r>
          </a:p>
          <a:p>
            <a:pPr lvl="0" indent="0" marL="0">
              <a:buNone/>
            </a:pPr>
            <a:r>
              <a:rPr b="1"/>
              <a:t>좌측 박스 — Participants</a:t>
            </a:r>
            <a:r>
              <a:rPr/>
              <a:t> - Group A (홈페이지형): Apple 기존 사용자 </a:t>
            </a:r>
            <a:r>
              <a:rPr b="1"/>
              <a:t>10명</a:t>
            </a:r>
            <a:r>
              <a:rPr/>
              <a:t> - Group B (챗봇형): Google 신규 사용자 </a:t>
            </a:r>
            <a:r>
              <a:rPr b="1"/>
              <a:t>10명</a:t>
            </a:r>
            <a:r>
              <a:rPr/>
              <a:t> - 기간: </a:t>
            </a:r>
            <a:r>
              <a:rPr b="1"/>
              <a:t>2026-04-15 ~ 04-21 (7일)</a:t>
            </a:r>
            <a:r>
              <a:rPr/>
              <a:t> - 평균 나이 34세 · 앵무새 사육 경력 2.3년</a:t>
            </a:r>
          </a:p>
          <a:p>
            <a:pPr lvl="0" indent="0" marL="0">
              <a:buNone/>
            </a:pPr>
            <a:r>
              <a:rPr b="1"/>
              <a:t>중앙 박스 — Instruments</a:t>
            </a:r>
            <a:r>
              <a:rPr/>
              <a:t> 1. </a:t>
            </a:r>
            <a:r>
              <a:rPr b="1"/>
              <a:t>백엔드 로그</a:t>
            </a:r>
            <a:r>
              <a:rPr/>
              <a:t> — API 호출, 세션 시작/종료 2. </a:t>
            </a:r>
            <a:r>
              <a:rPr b="1"/>
              <a:t>In-app 이벤트</a:t>
            </a:r>
            <a:r>
              <a:rPr/>
              <a:t> — Firebase Analytics (기능별 조회/탭) 3. </a:t>
            </a:r>
            <a:r>
              <a:rPr b="1"/>
              <a:t>7점 Likert 설문</a:t>
            </a:r>
            <a:r>
              <a:rPr/>
              <a:t> — 정확도 만족도, 자연스러움, 재사용 의향 (사후) 4. </a:t>
            </a:r>
            <a:r>
              <a:rPr b="1"/>
              <a:t>1:1 인터뷰 / DM 피드백</a:t>
            </a:r>
            <a:r>
              <a:rPr/>
              <a:t> — 그룹당 5명 발췌</a:t>
            </a:r>
          </a:p>
          <a:p>
            <a:pPr lvl="0" indent="0" marL="0">
              <a:buNone/>
            </a:pPr>
            <a:r>
              <a:rPr b="1"/>
              <a:t>우측 박스 — 공통 태스크</a:t>
            </a:r>
            <a:r>
              <a:rPr/>
              <a:t> - “반려조 사진 한 장을 분석하고, 추가로 궁금한 점을 해결해 주세요”</a:t>
            </a:r>
          </a:p>
          <a:p>
            <a:pPr lvl="0" indent="0" marL="0">
              <a:buNone/>
            </a:pPr>
            <a:r>
              <a:rPr b="1"/>
              <a:t>스피치 (30초)</a:t>
            </a:r>
            <a:r>
              <a:rPr/>
              <a:t> “참가자는 그룹당 10명, 총 20명이고 1주간 실제 사용했습니다. 백엔드 로그, 앱 분석, 7점 Likert 설문, 그리고 그룹별 5명 인터뷰로 정량·정성 데이터를 함께 수집했습니다. 공통 태스크는 ‘사진 한 장으로 반려조 건강을 체크하고 궁금한 점 해결하기’ 였습니다.”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Quantitative Results ★ (메인)</a:t>
            </a:r>
          </a:p>
          <a:p>
            <a:pPr lvl="0" indent="0" marL="0">
              <a:buNone/>
            </a:pPr>
            <a:r>
              <a:rPr b="1"/>
              <a:t>제목</a:t>
            </a:r>
            <a:r>
              <a:rPr/>
              <a:t>: 정량 결과 — 두 UI 의 선명한 트레이드오프</a:t>
            </a:r>
          </a:p>
          <a:p>
            <a:pPr lvl="0" indent="0" marL="0">
              <a:buNone/>
            </a:pPr>
            <a:r>
              <a:rPr b="1"/>
              <a:t>중앙 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홈페이지형 (A, n=10)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챗봇형 (B, n=10)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차이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사진 진단 태스크 </a:t>
                      </a:r>
                      <a:r>
                        <a:rPr b="1"/>
                        <a:t>완료율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88%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+46%p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진단 </a:t>
                      </a:r>
                      <a:r>
                        <a:rPr b="1"/>
                        <a:t>정확도 만족도</a:t>
                      </a:r>
                      <a:r>
                        <a:rPr/>
                        <a:t> (7점)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5.8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+1.9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대화 자연스러움</a:t>
                      </a:r>
                      <a:r>
                        <a:rPr/>
                        <a:t> (7점)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5.7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1주간 </a:t>
                      </a:r>
                      <a:r>
                        <a:rPr b="1"/>
                        <a:t>재방문율</a:t>
                      </a:r>
                      <a:r>
                        <a:rPr/>
                        <a:t> (DAU/WAU)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−23%p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 </a:t>
                      </a:r>
                      <a:r>
                        <a:rPr b="1"/>
                        <a:t>세션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1분 18초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4분 02초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−164s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 평균 </a:t>
                      </a:r>
                      <a:r>
                        <a:rPr b="1"/>
                        <a:t>후속 질문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3.8건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−3.1건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 </a:t>
                      </a:r>
                      <a:r>
                        <a:rPr b="1"/>
                        <a:t>재사용 의향</a:t>
                      </a:r>
                      <a:r>
                        <a:rPr/>
                        <a:t> (7점)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하단 컬러 박스 2개</a:t>
            </a:r>
            <a:r>
              <a:rPr/>
              <a:t> - 🟧 “홈페이지형이 이기는 축 — </a:t>
            </a:r>
            <a:r>
              <a:rPr b="1"/>
              <a:t>정확도 · 태스크 완료율</a:t>
            </a:r>
            <a:r>
              <a:rPr/>
              <a:t>” - 🟦 “챗봇형이 이기는 축 — </a:t>
            </a:r>
            <a:r>
              <a:rPr b="1"/>
              <a:t>재방문 · 대화성 · 체류시간</a:t>
            </a:r>
            <a:r>
              <a:rPr/>
              <a:t>”</a:t>
            </a:r>
          </a:p>
          <a:p>
            <a:pPr lvl="0" indent="0" marL="0">
              <a:buNone/>
            </a:pPr>
            <a:r>
              <a:rPr b="1"/>
              <a:t>시각화 권장</a:t>
            </a:r>
            <a:r>
              <a:rPr/>
              <a:t>: 두 그룹 막대 차트 3개 (완료율, 재방문율, 세션 시간) 를 나란히 배치하면 인상적.</a:t>
            </a:r>
          </a:p>
          <a:p>
            <a:pPr lvl="0" indent="0" marL="0">
              <a:buNone/>
            </a:pPr>
            <a:r>
              <a:rPr b="1"/>
              <a:t>스피치 (75초)</a:t>
            </a:r>
            <a:r>
              <a:rPr/>
              <a:t> “정량 결과가 아주 선명합니다. 홈페이지형은 진단 태스크 완료율 88%, 정확도 만족도 5.8점으로 </a:t>
            </a:r>
            <a:r>
              <a:rPr b="1"/>
              <a:t>구조화된 분석</a:t>
            </a:r>
            <a:r>
              <a:rPr/>
              <a:t>에서 압도적이었습니다. 반면 챗봇형은 완료율이 42% 로 절반 수준이었는데, 이유는 챗봇이 이미지 업로드를 지원하지 않아 사진 진단 자체를 끝까지 마치지 못한 케이스입니다.</a:t>
            </a:r>
          </a:p>
          <a:p>
            <a:pPr lvl="0" indent="0" marL="0">
              <a:buNone/>
            </a:pPr>
            <a:r>
              <a:rPr/>
              <a:t>반대로 재방문율은 챗봇형이 54% 로 홈페이지형의 31% 보다 </a:t>
            </a:r>
            <a:r>
              <a:rPr b="1"/>
              <a:t>약 1.7배 높고</a:t>
            </a:r>
            <a:r>
              <a:rPr/>
              <a:t>, 세션 시간도 평균 </a:t>
            </a:r>
            <a:r>
              <a:rPr b="1"/>
              <a:t>3배 이상 길었습니다</a:t>
            </a:r>
            <a:r>
              <a:rPr/>
              <a:t>. 대화형 UI 가 “한 번 묻고 끝” 이 아니라 “계속 궁금증을 해결하는” 행태를 유발한 거죠.</a:t>
            </a:r>
          </a:p>
          <a:p>
            <a:pPr lvl="0" indent="0" marL="0">
              <a:buNone/>
            </a:pPr>
            <a:r>
              <a:rPr/>
              <a:t>NPS 와 재사용 의향은 두 그룹 모두 유사하게 긍정적이었습니다 — </a:t>
            </a:r>
            <a:r>
              <a:rPr b="1"/>
              <a:t>각 UI 가 서로 다른 강점으로 사용자 호감을 얻었다</a:t>
            </a:r>
            <a:r>
              <a:rPr/>
              <a:t>는 뜻입니다.”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Qualitative Results</a:t>
            </a:r>
          </a:p>
          <a:p>
            <a:pPr lvl="0" indent="0" marL="0">
              <a:buNone/>
            </a:pPr>
            <a:r>
              <a:rPr b="1"/>
              <a:t>제목</a:t>
            </a:r>
            <a:r>
              <a:rPr/>
              <a:t>: 정성 결과 — 두 UI의 목소리</a:t>
            </a:r>
          </a:p>
          <a:p>
            <a:pPr lvl="0" indent="0" marL="0">
              <a:buNone/>
            </a:pPr>
            <a:r>
              <a:rPr b="1"/>
              <a:t>좌측 박스 — 🟧 홈페이지형 (n=5 인터뷰)</a:t>
            </a:r>
          </a:p>
          <a:p>
            <a:pPr lvl="0" indent="0" marL="1270000">
              <a:buNone/>
            </a:pPr>
            <a:r>
              <a:rPr sz="2000"/>
              <a:t>“진단 결과가 </a:t>
            </a:r>
            <a:r>
              <a:rPr sz="2000" b="1"/>
              <a:t>체계적이라 병원 갈 때 보여주기 좋다</a:t>
            </a:r>
            <a:r>
              <a:rPr sz="2000"/>
              <a:t>” (P-A3) “</a:t>
            </a:r>
            <a:r>
              <a:rPr sz="2000" b="1"/>
              <a:t>긴급도(위험/주의) 표시</a:t>
            </a:r>
            <a:r>
              <a:rPr sz="2000"/>
              <a:t>가 한눈에 들어와 안심된다” (P-A7) “결과 하나 보고 끝이라 </a:t>
            </a:r>
            <a:r>
              <a:rPr sz="2000" b="1"/>
              <a:t>뒷이야기가 없어 아쉽다</a:t>
            </a:r>
            <a:r>
              <a:rPr sz="2000"/>
              <a:t>” (P-A1) “추가 질문하려면 </a:t>
            </a:r>
            <a:r>
              <a:rPr sz="2000" b="1"/>
              <a:t>챗봇 탭으로 이동해야 해서 불편</a:t>
            </a:r>
            <a:r>
              <a:rPr sz="2000"/>
              <a:t>” (P-A5)</a:t>
            </a:r>
          </a:p>
          <a:p>
            <a:pPr lvl="0" indent="0" marL="0">
              <a:buNone/>
            </a:pPr>
            <a:r>
              <a:rPr b="1"/>
              <a:t>우측 박스 — 🟦 챗봇형 (n=5 인터뷰)</a:t>
            </a:r>
          </a:p>
          <a:p>
            <a:pPr lvl="0" indent="0" marL="1270000">
              <a:buNone/>
            </a:pPr>
            <a:r>
              <a:rPr sz="2000"/>
              <a:t>“궁금한 걸 </a:t>
            </a:r>
            <a:r>
              <a:rPr sz="2000" b="1"/>
              <a:t>여러 번 물어볼 수 있어서 편하다</a:t>
            </a:r>
            <a:r>
              <a:rPr sz="2000"/>
              <a:t>” (P-B2) “</a:t>
            </a:r>
            <a:r>
              <a:rPr sz="2000" b="1"/>
              <a:t>대화하는 느낌</a:t>
            </a:r>
            <a:r>
              <a:rPr sz="2000"/>
              <a:t>이라 부담이 없다” (P-B6) “사진을 </a:t>
            </a:r>
            <a:r>
              <a:rPr sz="2000" b="1"/>
              <a:t>못 올리는 게 가장 답답했다</a:t>
            </a:r>
            <a:r>
              <a:rPr sz="2000"/>
              <a:t>” (P-B4) “답변이 </a:t>
            </a:r>
            <a:r>
              <a:rPr sz="2000" b="1"/>
              <a:t>일반론적일 때가 있다</a:t>
            </a:r>
            <a:r>
              <a:rPr sz="2000"/>
              <a:t> (우리 앵무새 특정 증상 안 봐주는 느낌)” (P-B9)</a:t>
            </a:r>
          </a:p>
          <a:p>
            <a:pPr lvl="0" indent="0" marL="0">
              <a:buNone/>
            </a:pPr>
            <a:r>
              <a:rPr b="1"/>
              <a:t>하단 바</a:t>
            </a:r>
            <a:r>
              <a:rPr/>
              <a:t>: “공통 불만 — 사진 진단과 대화형 질의가 </a:t>
            </a:r>
            <a:r>
              <a:rPr b="1"/>
              <a:t>분리돼 있는 구조</a:t>
            </a:r>
            <a:r>
              <a:rPr/>
              <a:t>”</a:t>
            </a:r>
          </a:p>
          <a:p>
            <a:pPr lvl="0" indent="0" marL="0">
              <a:buNone/>
            </a:pPr>
            <a:r>
              <a:rPr b="1"/>
              <a:t>스피치 (55초)</a:t>
            </a:r>
            <a:r>
              <a:rPr/>
              <a:t> “정성 데이터는 정량 결과를 그대로 증언합니다. 홈페이지형 사용자는 ‘결과가 체계적이다’, ‘긴급도가 명확하다’ 를 장점으로 꼽았고 단점은 ‘단발성 — 뒷이야기가 없다’ 였습니다.</a:t>
            </a:r>
          </a:p>
          <a:p>
            <a:pPr lvl="0" indent="0" marL="0">
              <a:buNone/>
            </a:pPr>
            <a:r>
              <a:rPr/>
              <a:t>챗봇형 사용자는 ‘대화 느낌 좋다’, ‘여러 번 물어볼 수 있다’ 를 장점으로 꼽았고 단점은 ‘사진을 못 올린다’, ‘답변이 일반론적이다’ 였습니다.</a:t>
            </a:r>
          </a:p>
          <a:p>
            <a:pPr lvl="0" indent="0" marL="0">
              <a:buNone/>
            </a:pPr>
            <a:r>
              <a:rPr/>
              <a:t>결정적으로, </a:t>
            </a:r>
            <a:r>
              <a:rPr b="1"/>
              <a:t>두 그룹 모두 ‘사진 진단과 대화가 분리돼 있는 것’ 을 공통 불만으로 지적</a:t>
            </a:r>
            <a:r>
              <a:rPr/>
              <a:t>했습니다. 여기서 2차 프로젝트의 방향이 도출됩니다.”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Key Insight</a:t>
            </a:r>
          </a:p>
          <a:p>
            <a:pPr lvl="0" indent="0" marL="0">
              <a:buNone/>
            </a:pPr>
            <a:r>
              <a:rPr b="1"/>
              <a:t>제목</a:t>
            </a:r>
            <a:r>
              <a:rPr/>
              <a:t>: 핵심 인사이트 — 두 UI 는 상호보완적</a:t>
            </a:r>
          </a:p>
          <a:p>
            <a:pPr lvl="0" indent="0" marL="0">
              <a:buNone/>
            </a:pPr>
            <a:r>
              <a:rPr b="1"/>
              <a:t>중앙 도식</a:t>
            </a:r>
          </a:p>
          <a:p>
            <a:pPr lvl="0" indent="0">
              <a:buNone/>
            </a:pPr>
            <a:r>
              <a:rPr>
                <a:latin typeface="Courier"/>
              </a:rPr>
              <a:t>[홈페이지형]              [챗봇형]
  정확도 ★★★★☆          정확도 ★★☆☆☆
  대화성 ★☆☆☆☆          대화성 ★★★★★
       ↓                    ↓
   ╔═════════════════════════════╗
   ║  멀티모달 챗봇 (통합 UX)     ║
   ║  정확도 ★★★★☆  대화성 ★★★★☆║
   ╚═════════════════════════════╝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좌측 작은 글자</a:t>
            </a:r>
            <a:r>
              <a:rPr/>
              <a:t> - “정확도”와 “대화성”은 </a:t>
            </a:r>
            <a:r>
              <a:rPr b="1"/>
              <a:t>반비례가 아닌 독립 축</a:t>
            </a:r>
            <a:r>
              <a:rPr/>
              <a:t> - 둘을 UI 레벨에서 결합하면 두 그룹의 강점을 합친 제3의 제품이 가능</a:t>
            </a:r>
          </a:p>
          <a:p>
            <a:pPr lvl="0" indent="0" marL="0">
              <a:buNone/>
            </a:pPr>
            <a:r>
              <a:rPr b="1"/>
              <a:t>스피치 (35초)</a:t>
            </a:r>
            <a:r>
              <a:rPr/>
              <a:t> “user study 는 ‘어느 UI 가 더 낫다’ 라는 단순 결론이 아니라, </a:t>
            </a:r>
            <a:r>
              <a:rPr b="1"/>
              <a:t>두 UI 의 강점 축이 다르고 상호보완적이라는 인사이트</a:t>
            </a:r>
            <a:r>
              <a:rPr/>
              <a:t>를 줬습니다. 정확도는 홈페이지형이, 대화성은 챗봇형이 가져가지만 이건 </a:t>
            </a:r>
            <a:r>
              <a:rPr b="1"/>
              <a:t>트레이드오프가 아닙니다</a:t>
            </a:r>
            <a:r>
              <a:rPr/>
              <a:t> — UI 레벨에서 결합 가능한 독립 축이죠. 그래서 2차 프로젝트는 이 결합을 시도합니다.”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 — Second Project: Concept Design ★</a:t>
            </a:r>
          </a:p>
          <a:p>
            <a:pPr lvl="0" indent="0" marL="0">
              <a:buNone/>
            </a:pPr>
            <a:r>
              <a:rPr b="1"/>
              <a:t>제목</a:t>
            </a:r>
            <a:r>
              <a:rPr/>
              <a:t>: 2차 프로젝트 — 멀티모달 AI 챗봇</a:t>
            </a:r>
          </a:p>
          <a:p>
            <a:pPr lvl="0" indent="0" marL="0">
              <a:buNone/>
            </a:pPr>
            <a:r>
              <a:rPr b="1"/>
              <a:t>좌측 — “before” 두 화면 썸네일 (Health Check main + 챗봇)</a:t>
            </a:r>
            <a:r>
              <a:rPr/>
              <a:t> </a:t>
            </a:r>
            <a:r>
              <a:rPr b="1"/>
              <a:t>중앙 — 변환 화살표 + 한 줄</a:t>
            </a:r>
            <a:r>
              <a:rPr/>
              <a:t>: “</a:t>
            </a:r>
            <a:r>
              <a:rPr b="1"/>
              <a:t>단일 챗봇 화면 · 입력창에서 사진 첨부</a:t>
            </a:r>
            <a:r>
              <a:rPr/>
              <a:t>” </a:t>
            </a:r>
            <a:r>
              <a:rPr b="1"/>
              <a:t>우측 — “after” 한 화면 썸네일 (챗봇 + “+” 버튼 + 이미지 썸네일)</a:t>
            </a:r>
          </a:p>
          <a:p>
            <a:pPr lvl="0" indent="0" marL="0">
              <a:buNone/>
            </a:pPr>
            <a:r>
              <a:rPr b="1"/>
              <a:t>하단 4컬럼 카드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🎯 단일 진입점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📎 멀티모달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🔀 Vision 브릿지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💬 대화 히스토리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홈 배너 · 하단탭 모두 챗봇으로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카메라 / 갤러리 첨부, 텍스트 + 사진 동시 전송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/ai/vision/analyze</a:t>
                      </a:r>
                      <a:r>
                        <a:rPr/>
                        <a:t> 결과를 프롬프트에 합성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같은 사진에 대해 후속 질문 연속 가능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Expected Outcomes (하단 작게)</a:t>
            </a:r>
            <a:r>
              <a:rPr/>
              <a:t> - 태스크 완료율: </a:t>
            </a:r>
            <a:r>
              <a:rPr b="1"/>
              <a:t>88% → 예상 82% 수렴</a:t>
            </a:r>
            <a:r>
              <a:rPr/>
              <a:t> (사진 업로드 경로 복구) - 후속 질문 수: </a:t>
            </a:r>
            <a:r>
              <a:rPr b="1"/>
              <a:t>0.7건 → 예상 3.0건+</a:t>
            </a:r>
            <a:r>
              <a:rPr/>
              <a:t> (대화성 확보) - NPS 통합: </a:t>
            </a:r>
            <a:r>
              <a:rPr b="1"/>
              <a:t>+18~+22 예상</a:t>
            </a:r>
            <a:r>
              <a:rPr/>
              <a:t> (두 그룹 강점 합산)</a:t>
            </a:r>
          </a:p>
          <a:p>
            <a:pPr lvl="0" indent="0" marL="0">
              <a:buNone/>
            </a:pPr>
            <a:r>
              <a:rPr b="1"/>
              <a:t>스피치 (60초)</a:t>
            </a:r>
            <a:r>
              <a:rPr/>
              <a:t> “2차 프로젝트는 </a:t>
            </a:r>
            <a:r>
              <a:rPr b="1"/>
              <a:t>홈의 Health Check 배너와 분리된 챗봇 탭을 하나의 멀티모달 대화창으로 통합</a:t>
            </a:r>
            <a:r>
              <a:rPr/>
              <a:t>합니다. 사용자는 챗 입력창에서 ‘+’ 버튼으로 사진을 첨부하고, 텍스트 질문과 함께 보냅니다. 클라이언트가 Vision API 로 이미지를 먼저 분석하고, 요약 결과를 챗 프롬프트에 합성해 전송합니다.</a:t>
            </a:r>
          </a:p>
          <a:p>
            <a:pPr lvl="0" indent="0" marL="0">
              <a:buNone/>
            </a:pPr>
            <a:r>
              <a:rPr/>
              <a:t>핵심 가치는 </a:t>
            </a:r>
            <a:r>
              <a:rPr b="1"/>
              <a:t>‘한 사진에 대해 대화가 이어지는 것’</a:t>
            </a:r>
            <a:r>
              <a:rPr/>
              <a:t> — user study 에서 두 그룹 모두 원했지만 분리된 구조 때문에 못했던 지점입니다. 이미 프로토타입 구현을 마쳤고, 다음 user study 에서 완료율·재방문·정확도 세 축을 재측정할 예정입니다.”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 — Thank You / Next Steps</a:t>
            </a:r>
          </a:p>
          <a:p>
            <a:pPr lvl="0" indent="0" marL="0">
              <a:buNone/>
            </a:pPr>
            <a:r>
              <a:rPr b="1"/>
              <a:t>텍스트</a:t>
            </a:r>
          </a:p>
          <a:p>
            <a:pPr lvl="0" indent="0" marL="1270000">
              <a:buNone/>
            </a:pPr>
            <a:r>
              <a:rPr sz="2000" b="1"/>
              <a:t>다음 단계</a:t>
            </a:r>
            <a:r>
              <a:rPr sz="2000"/>
              <a:t> • Next user study: 2026-05 second phase • 측정 포인트: 통합 UX 의 정확도 회귀 · 후속질문 증가율 · 태스크 완료율</a:t>
            </a:r>
          </a:p>
          <a:p>
            <a:pPr lvl="0" indent="0" marL="1270000">
              <a:buNone/>
            </a:pPr>
            <a:r>
              <a:rPr sz="2000" b="1"/>
              <a:t>Thank You</a:t>
            </a:r>
            <a:r>
              <a:rPr sz="2000"/>
              <a:t> Let’s Create Something Amazing Together</a:t>
            </a:r>
          </a:p>
          <a:p>
            <a:pPr lvl="0" indent="0" marL="1270000">
              <a:buNone/>
            </a:pPr>
            <a:r>
              <a:rPr sz="2000"/>
              <a:t>010-6860-8781 · limdonghyun@hanyang.ac.kr · www.perch.ai.kr</a:t>
            </a:r>
          </a:p>
          <a:p>
            <a:pPr lvl="0" indent="0" marL="0">
              <a:buNone/>
            </a:pPr>
            <a:r>
              <a:rPr b="1"/>
              <a:t>스피치 (10초)</a:t>
            </a:r>
            <a:r>
              <a:rPr/>
              <a:t> “다음 user study 에서 통합 UX 를 동일한 세 축으로 재측정할 예정입니다. 감사합니다.”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발표 전 체크리스트</a:t>
            </a:r>
          </a:p>
          <a:p>
            <a:pPr lvl="0"/>
            <a:r>
              <a:rPr/>
              <a:t>☐ PPT 파일 </a:t>
            </a:r>
            <a:r>
              <a:rPr>
                <a:latin typeface="Courier"/>
              </a:rPr>
              <a:t>.pptx</a:t>
            </a:r>
            <a:r>
              <a:rPr/>
              <a:t> 로 저장 (이메일 제출용)</a:t>
            </a:r>
          </a:p>
          <a:p>
            <a:pPr lvl="0"/>
            <a:r>
              <a:rPr/>
              <a:t>☐ </a:t>
            </a:r>
            <a:r>
              <a:rPr b="1"/>
              <a:t>제출</a:t>
            </a:r>
            <a:r>
              <a:rPr/>
              <a:t>: anna5638@naver.com (안나경) · PPT + 1페이지 문서 (</a:t>
            </a:r>
            <a:r>
              <a:rPr>
                <a:latin typeface="Courier"/>
              </a:rPr>
              <a:t>2026-04-29-second-project-concept-1page.docx</a:t>
            </a:r>
            <a:r>
              <a:rPr/>
              <a:t>)</a:t>
            </a:r>
          </a:p>
          <a:p>
            <a:pPr lvl="0"/>
            <a:r>
              <a:rPr/>
              <a:t>☐ 수치 실제 값으로 교체 (Slide 4, 5) — 실제 user study 완료 후</a:t>
            </a:r>
          </a:p>
          <a:p>
            <a:pPr lvl="0"/>
            <a:r>
              <a:rPr/>
              <a:t>☐ 스크린샷 업데이트: Slide 2, 7 에 before/after 목업</a:t>
            </a:r>
          </a:p>
          <a:p>
            <a:pPr lvl="0"/>
            <a:r>
              <a:rPr/>
              <a:t>☐ 5분 리허설 (실제 속도로 한번 돌려보기) — 6-7분 나오면 Slide 4 표 축약</a:t>
            </a:r>
          </a:p>
          <a:p>
            <a:pPr lvl="0"/>
            <a:r>
              <a:rPr/>
              <a:t>☐ 발표 준비 신청 (선착순) 확인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슬라이드 제작 팁</a:t>
            </a:r>
          </a:p>
          <a:p>
            <a:pPr lvl="0" indent="-342900" marL="342900">
              <a:buAutoNum type="arabicPeriod"/>
            </a:pPr>
            <a:r>
              <a:rPr b="1"/>
              <a:t>기존 과제2 PDF 디자인 재활용</a:t>
            </a:r>
            <a:r>
              <a:rPr/>
              <a:t> — 표지·목차·썡큐 레이아웃 그대로 유지</a:t>
            </a:r>
          </a:p>
          <a:p>
            <a:pPr lvl="0" indent="-342900" marL="342900">
              <a:buAutoNum type="arabicPeriod"/>
            </a:pPr>
            <a:r>
              <a:rPr b="1"/>
              <a:t>Slide 4 의 표</a:t>
            </a:r>
            <a:r>
              <a:rPr/>
              <a:t> — 3컬럼 차이 색 (−: 빨강, +: 초록) 으로 시선 유도</a:t>
            </a:r>
          </a:p>
          <a:p>
            <a:pPr lvl="0" indent="-342900" marL="342900">
              <a:buAutoNum type="arabicPeriod"/>
            </a:pPr>
            <a:r>
              <a:rPr b="1"/>
              <a:t>Slide 6 의 도식</a:t>
            </a:r>
            <a:r>
              <a:rPr/>
              <a:t> — 별점을 레이더 차트로 그려도 좋음</a:t>
            </a:r>
          </a:p>
          <a:p>
            <a:pPr lvl="0" indent="-342900" marL="342900">
              <a:buAutoNum type="arabicPeriod"/>
            </a:pPr>
            <a:r>
              <a:rPr b="1"/>
              <a:t>Slide 7 의 before/after</a:t>
            </a:r>
            <a:r>
              <a:rPr/>
              <a:t> — 방금 구현한 </a:t>
            </a:r>
            <a:r>
              <a:rPr>
                <a:latin typeface="Courier"/>
              </a:rPr>
              <a:t>ChatInputMultimodal</a:t>
            </a:r>
            <a:r>
              <a:rPr/>
              <a:t> 시뮬레이터 스크린샷 캡처하여 삽입</a:t>
            </a:r>
          </a:p>
          <a:p>
            <a:pPr lvl="0" indent="-342900" marL="342900">
              <a:buAutoNum type="arabicPeriod"/>
            </a:pPr>
            <a:r>
              <a:rPr/>
              <a:t>말 속도 느린 편이면 Slide 4 스피치 축약 (75s → 60s) 가능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2026-04-22T06:51:41Z</dcterms:created>
  <dcterms:modified xsi:type="dcterms:W3CDTF">2026-04-22T06:51:41Z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